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B4F9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5394960"/>
            <a:ext cx="12191695" cy="1463040"/>
          </a:xfrm>
          <a:prstGeom prst="rect">
            <a:avLst/>
          </a:prstGeom>
          <a:solidFill>
            <a:srgbClr val="129A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280160"/>
            <a:ext cx="1051560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6600" b="1">
                <a:solidFill>
                  <a:srgbClr val="FFFFFF"/>
                </a:solidFill>
                <a:latin typeface="Calibri"/>
              </a:rPr>
              <a:t>TOURIST.UZ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2560320"/>
            <a:ext cx="105156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2800" b="0">
                <a:solidFill>
                  <a:srgbClr val="FFFFFF"/>
                </a:solidFill>
                <a:latin typeface="Calibri"/>
              </a:rPr>
              <a:t>AI marshrut, onlayn chipta va ona tilidagi ovozli gid — O'zbekiston sayyohlari uchun bitta ilovada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4206240"/>
            <a:ext cx="10515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2000" b="0">
                <a:solidFill>
                  <a:srgbClr val="E0B453"/>
                </a:solidFill>
                <a:latin typeface="Calibri"/>
              </a:rPr>
              <a:t>«Eng yaxshi kreativ g'oya» tanlovi — institut bosqichi, 2026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5623560"/>
            <a:ext cx="105156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800" b="0">
                <a:solidFill>
                  <a:srgbClr val="FFFFFF"/>
                </a:solidFill>
                <a:latin typeface="Calibri"/>
              </a:rPr>
              <a:t>Mualliflar: [F.I.Sh.]   •   Ilmiy rahbar: [F.I.Sh.]</a:t>
            </a:r>
          </a:p>
          <a:p>
            <a:pPr>
              <a:spcAft>
                <a:spcPts val="800"/>
              </a:spcAft>
            </a:pPr>
            <a:r>
              <a:rPr sz="1800" b="0">
                <a:solidFill>
                  <a:srgbClr val="FFFFFF"/>
                </a:solidFill>
                <a:latin typeface="Calibri"/>
              </a:rPr>
              <a:t>https://ilhomabdullaev.github.io/gulhayo_uchun/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129A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446520"/>
            <a:ext cx="12191695" cy="411480"/>
          </a:xfrm>
          <a:prstGeom prst="rect">
            <a:avLst/>
          </a:prstGeom>
          <a:solidFill>
            <a:srgbClr val="F0EBE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320040"/>
            <a:ext cx="109728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3400" b="1">
                <a:solidFill>
                  <a:srgbClr val="1B4F9C"/>
                </a:solidFill>
                <a:latin typeface="Calibri"/>
              </a:rPr>
              <a:t>Muammo: sayyoh nimalarga duch keladi?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6473952"/>
            <a:ext cx="7315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200" b="0">
                <a:solidFill>
                  <a:srgbClr val="5C6577"/>
                </a:solidFill>
                <a:latin typeface="Calibri"/>
              </a:rPr>
              <a:t>Tourist.uz  •  «Eng yaxshi kreativ g'oya» 2026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094415" y="6473952"/>
            <a:ext cx="731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200" b="1">
                <a:solidFill>
                  <a:srgbClr val="5C6577"/>
                </a:solidFill>
                <a:latin typeface="Calibri"/>
              </a:rPr>
              <a:t>2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48640" y="1371600"/>
            <a:ext cx="5394960" cy="2103120"/>
          </a:xfrm>
          <a:prstGeom prst="roundRect">
            <a:avLst/>
          </a:prstGeom>
          <a:solidFill>
            <a:srgbClr val="FFFFFF"/>
          </a:solidFill>
          <a:ln>
            <a:solidFill>
              <a:srgbClr val="E2DBC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548640" y="1371600"/>
            <a:ext cx="109728" cy="2103120"/>
          </a:xfrm>
          <a:prstGeom prst="rect">
            <a:avLst/>
          </a:prstGeom>
          <a:solidFill>
            <a:srgbClr val="1B4F9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22960" y="1508760"/>
            <a:ext cx="50292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2000" b="1">
                <a:solidFill>
                  <a:srgbClr val="1B4F9C"/>
                </a:solidFill>
                <a:latin typeface="Calibri"/>
              </a:rPr>
              <a:t>Tarqoq axborot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22960" y="2057400"/>
            <a:ext cx="50292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500" b="0">
                <a:solidFill>
                  <a:srgbClr val="1C2433"/>
                </a:solidFill>
                <a:latin typeface="Calibri"/>
              </a:rPr>
              <a:t>Marshrut, chipta, transport va tarix — turli ilovalarda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217920" y="1371600"/>
            <a:ext cx="5394960" cy="2103120"/>
          </a:xfrm>
          <a:prstGeom prst="roundRect">
            <a:avLst/>
          </a:prstGeom>
          <a:solidFill>
            <a:srgbClr val="FFFFFF"/>
          </a:solidFill>
          <a:ln>
            <a:solidFill>
              <a:srgbClr val="E2DBC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6217920" y="1371600"/>
            <a:ext cx="109728" cy="2103120"/>
          </a:xfrm>
          <a:prstGeom prst="rect">
            <a:avLst/>
          </a:prstGeom>
          <a:solidFill>
            <a:srgbClr val="129A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492240" y="1508760"/>
            <a:ext cx="50292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2000" b="1">
                <a:solidFill>
                  <a:srgbClr val="129A9A"/>
                </a:solidFill>
                <a:latin typeface="Calibri"/>
              </a:rPr>
              <a:t>Kassadagi navbat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92240" y="2057400"/>
            <a:ext cx="50292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500" b="0">
                <a:solidFill>
                  <a:srgbClr val="1C2433"/>
                </a:solidFill>
                <a:latin typeface="Calibri"/>
              </a:rPr>
              <a:t>Obidalarga chipta faqat joyida, ko'pincha naqd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548640" y="3749039"/>
            <a:ext cx="5394960" cy="2103120"/>
          </a:xfrm>
          <a:prstGeom prst="roundRect">
            <a:avLst/>
          </a:prstGeom>
          <a:solidFill>
            <a:srgbClr val="FFFFFF"/>
          </a:solidFill>
          <a:ln>
            <a:solidFill>
              <a:srgbClr val="E2DBC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548640" y="3749039"/>
            <a:ext cx="109728" cy="2103120"/>
          </a:xfrm>
          <a:prstGeom prst="rect">
            <a:avLst/>
          </a:prstGeom>
          <a:solidFill>
            <a:srgbClr val="C996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22960" y="3886199"/>
            <a:ext cx="50292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2000" b="1">
                <a:solidFill>
                  <a:srgbClr val="C9962B"/>
                </a:solidFill>
                <a:latin typeface="Calibri"/>
              </a:rPr>
              <a:t>Til to'sig'i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22960" y="4434839"/>
            <a:ext cx="50292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500" b="0">
                <a:solidFill>
                  <a:srgbClr val="1C2433"/>
                </a:solidFill>
                <a:latin typeface="Calibri"/>
              </a:rPr>
              <a:t>Xitoy, koreys, arab, turk tillarida gid kam va qimmat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217920" y="3749039"/>
            <a:ext cx="5394960" cy="2103120"/>
          </a:xfrm>
          <a:prstGeom prst="roundRect">
            <a:avLst/>
          </a:prstGeom>
          <a:solidFill>
            <a:srgbClr val="FFFFFF"/>
          </a:solidFill>
          <a:ln>
            <a:solidFill>
              <a:srgbClr val="E2DBC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6217920" y="3749039"/>
            <a:ext cx="109728" cy="2103120"/>
          </a:xfrm>
          <a:prstGeom prst="rect">
            <a:avLst/>
          </a:prstGeom>
          <a:solidFill>
            <a:srgbClr val="1B4F9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492240" y="3886199"/>
            <a:ext cx="50292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2000" b="1">
                <a:solidFill>
                  <a:srgbClr val="1B4F9C"/>
                </a:solidFill>
                <a:latin typeface="Calibri"/>
              </a:rPr>
              <a:t>Vaqt va budjet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492240" y="4434839"/>
            <a:ext cx="50292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500" b="0">
                <a:solidFill>
                  <a:srgbClr val="1C2433"/>
                </a:solidFill>
                <a:latin typeface="Calibri"/>
              </a:rPr>
              <a:t>Masofa, tirbandlik va narxlar oldindan noma'lum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129A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446520"/>
            <a:ext cx="12191695" cy="411480"/>
          </a:xfrm>
          <a:prstGeom prst="rect">
            <a:avLst/>
          </a:prstGeom>
          <a:solidFill>
            <a:srgbClr val="F0EBE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320040"/>
            <a:ext cx="109728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3400" b="1">
                <a:solidFill>
                  <a:srgbClr val="1B4F9C"/>
                </a:solidFill>
                <a:latin typeface="Calibri"/>
              </a:rPr>
              <a:t>Yechim: sayohat — bitta ilovada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6473952"/>
            <a:ext cx="7315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200" b="0">
                <a:solidFill>
                  <a:srgbClr val="5C6577"/>
                </a:solidFill>
                <a:latin typeface="Calibri"/>
              </a:rPr>
              <a:t>Tourist.uz  •  «Eng yaxshi kreativ g'oya» 2026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094415" y="6473952"/>
            <a:ext cx="731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200" b="1">
                <a:solidFill>
                  <a:srgbClr val="5C6577"/>
                </a:solidFill>
                <a:latin typeface="Calibri"/>
              </a:rPr>
              <a:t>3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48640" y="1828800"/>
            <a:ext cx="1737360" cy="1737360"/>
          </a:xfrm>
          <a:prstGeom prst="roundRect">
            <a:avLst/>
          </a:prstGeom>
          <a:solidFill>
            <a:srgbClr val="1B4F9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40080" y="2194560"/>
            <a:ext cx="155448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8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1. Fuqarolik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2441448" y="1828800"/>
            <a:ext cx="1737360" cy="1737360"/>
          </a:xfrm>
          <a:prstGeom prst="roundRect">
            <a:avLst/>
          </a:prstGeom>
          <a:solidFill>
            <a:srgbClr val="129A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2532888" y="2194560"/>
            <a:ext cx="155448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8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2. Hudud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334255" y="1828800"/>
            <a:ext cx="1737360" cy="1737360"/>
          </a:xfrm>
          <a:prstGeom prst="roundRect">
            <a:avLst/>
          </a:prstGeom>
          <a:solidFill>
            <a:srgbClr val="1B4F9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425695" y="2194560"/>
            <a:ext cx="155448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8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3. AI tavsiyasi
(5 tagacha joy)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227063" y="1828800"/>
            <a:ext cx="1737360" cy="1737360"/>
          </a:xfrm>
          <a:prstGeom prst="roundRect">
            <a:avLst/>
          </a:prstGeom>
          <a:solidFill>
            <a:srgbClr val="129A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318503" y="2194560"/>
            <a:ext cx="155448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8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4. Transport va
yo'l vaqti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119871" y="1828800"/>
            <a:ext cx="1737360" cy="1737360"/>
          </a:xfrm>
          <a:prstGeom prst="roundRect">
            <a:avLst/>
          </a:prstGeom>
          <a:solidFill>
            <a:srgbClr val="1B4F9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211311" y="2194560"/>
            <a:ext cx="155448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8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5. Onlayn chipta
(yagona QR)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10012680" y="1828800"/>
            <a:ext cx="1737360" cy="1737360"/>
          </a:xfrm>
          <a:prstGeom prst="roundRect">
            <a:avLst/>
          </a:prstGeom>
          <a:solidFill>
            <a:srgbClr val="129A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10104120" y="2194560"/>
            <a:ext cx="155448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8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6. Ovozli AI gid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48640" y="4114800"/>
            <a:ext cx="1097280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900" b="0">
                <a:solidFill>
                  <a:srgbClr val="1C2433"/>
                </a:solidFill>
                <a:latin typeface="Calibri"/>
              </a:rPr>
              <a:t>+ AI Sayohat Planner: «3 kun, tarixiy obidalar va milliy taomlar, $200» → tayyor kunlik reja, ovqatlanish joylari va chiptalar to'plami</a:t>
            </a:r>
          </a:p>
          <a:p>
            <a:pPr>
              <a:spcAft>
                <a:spcPts val="800"/>
              </a:spcAft>
            </a:pPr>
            <a:r>
              <a:rPr sz="1900" b="0">
                <a:solidFill>
                  <a:srgbClr val="1C2433"/>
                </a:solidFill>
                <a:latin typeface="Calibri"/>
              </a:rPr>
              <a:t>Asosiy g'oya: sayohatni AI rejalashtiradi, chiptani bitta QR bilan beradi, obida oldida esa ona tilingizda gapirib beradi.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129A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446520"/>
            <a:ext cx="12191695" cy="411480"/>
          </a:xfrm>
          <a:prstGeom prst="rect">
            <a:avLst/>
          </a:prstGeom>
          <a:solidFill>
            <a:srgbClr val="F0EBE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320040"/>
            <a:ext cx="109728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3400" b="1">
                <a:solidFill>
                  <a:srgbClr val="1B4F9C"/>
                </a:solidFill>
                <a:latin typeface="Calibri"/>
              </a:rPr>
              <a:t>Ilmiy va innovatsion yangilik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6473952"/>
            <a:ext cx="7315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200" b="0">
                <a:solidFill>
                  <a:srgbClr val="5C6577"/>
                </a:solidFill>
                <a:latin typeface="Calibri"/>
              </a:rPr>
              <a:t>Tourist.uz  •  «Eng yaxshi kreativ g'oya» 2026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094415" y="6473952"/>
            <a:ext cx="731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200" b="1">
                <a:solidFill>
                  <a:srgbClr val="5C6577"/>
                </a:solidFill>
                <a:latin typeface="Calibri"/>
              </a:rPr>
              <a:t>4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1280160"/>
            <a:ext cx="1115568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2200" b="0">
                <a:solidFill>
                  <a:srgbClr val="1C2433"/>
                </a:solidFill>
                <a:latin typeface="Calibri"/>
              </a:rPr>
              <a:t>• Fuqarolik va qiziqishga qarab AI tavsiya (Google Gemini) — har bir joy uchun «nega» izohi</a:t>
            </a:r>
          </a:p>
          <a:p>
            <a:pPr>
              <a:spcAft>
                <a:spcPts val="800"/>
              </a:spcAft>
            </a:pPr>
            <a:r>
              <a:rPr sz="2200" b="0">
                <a:solidFill>
                  <a:srgbClr val="1C2433"/>
                </a:solidFill>
                <a:latin typeface="Calibri"/>
              </a:rPr>
              <a:t>• Budjetga cheklangan reja + narxlarni bazadan tekshirish (AI gallyutsinatsiyasiga qarshi)</a:t>
            </a:r>
          </a:p>
          <a:p>
            <a:pPr>
              <a:spcAft>
                <a:spcPts val="800"/>
              </a:spcAft>
            </a:pPr>
            <a:r>
              <a:rPr sz="2200" b="0">
                <a:solidFill>
                  <a:srgbClr val="1C2433"/>
                </a:solidFill>
                <a:latin typeface="Calibri"/>
              </a:rPr>
              <a:t>• Kun va hafta vaqtiga bog'liq tirbandlik modeli, marshrutni geografik optimallashtirish</a:t>
            </a:r>
          </a:p>
          <a:p>
            <a:pPr>
              <a:spcAft>
                <a:spcPts val="800"/>
              </a:spcAft>
            </a:pPr>
            <a:r>
              <a:rPr sz="2200" b="0">
                <a:solidFill>
                  <a:srgbClr val="1C2433"/>
                </a:solidFill>
                <a:latin typeface="Calibri"/>
              </a:rPr>
              <a:t>• Geofencing: obidaga 150 m yaqinlashganda gid o'zi ishga tushadi</a:t>
            </a:r>
          </a:p>
          <a:p>
            <a:pPr>
              <a:spcAft>
                <a:spcPts val="800"/>
              </a:spcAft>
            </a:pPr>
            <a:r>
              <a:rPr sz="2200" b="0">
                <a:solidFill>
                  <a:srgbClr val="1C2433"/>
                </a:solidFill>
                <a:latin typeface="Calibri"/>
              </a:rPr>
              <a:t>• Generativ gid 14 tilda + nutq sintezi (brauzer TTS / Gemini TTS)</a:t>
            </a:r>
          </a:p>
          <a:p>
            <a:pPr>
              <a:spcAft>
                <a:spcPts val="800"/>
              </a:spcAft>
            </a:pPr>
            <a:r>
              <a:rPr sz="2200" b="0">
                <a:solidFill>
                  <a:srgbClr val="1C2433"/>
                </a:solidFill>
                <a:latin typeface="Calibri"/>
              </a:rPr>
              <a:t>• Bir nechta obidaga yagona raqamli QR chipta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129A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446520"/>
            <a:ext cx="12191695" cy="411480"/>
          </a:xfrm>
          <a:prstGeom prst="rect">
            <a:avLst/>
          </a:prstGeom>
          <a:solidFill>
            <a:srgbClr val="F0EBE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320040"/>
            <a:ext cx="109728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3400" b="1">
                <a:solidFill>
                  <a:srgbClr val="1B4F9C"/>
                </a:solidFill>
                <a:latin typeface="Calibri"/>
              </a:rPr>
              <a:t>Mavjud analoglardan ustunligi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6473952"/>
            <a:ext cx="7315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200" b="0">
                <a:solidFill>
                  <a:srgbClr val="5C6577"/>
                </a:solidFill>
                <a:latin typeface="Calibri"/>
              </a:rPr>
              <a:t>Tourist.uz  •  «Eng yaxshi kreativ g'oya» 2026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094415" y="6473952"/>
            <a:ext cx="731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200" b="1">
                <a:solidFill>
                  <a:srgbClr val="5C6577"/>
                </a:solidFill>
                <a:latin typeface="Calibri"/>
              </a:rPr>
              <a:t>5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457200" y="1234440"/>
          <a:ext cx="11247120" cy="48463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931920"/>
                <a:gridCol w="1219200"/>
                <a:gridCol w="1219200"/>
                <a:gridCol w="1219200"/>
                <a:gridCol w="1219200"/>
                <a:gridCol w="1219200"/>
                <a:gridCol w="1219200"/>
              </a:tblGrid>
              <a:tr h="484632">
                <a:tc>
                  <a:txBody>
                    <a:bodyPr/>
                    <a:lstStyle/>
                    <a:p>
                      <a:r>
                        <a:rPr sz="1300" b="1"/>
                        <a:t>Imkoniyat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300" b="1"/>
                        <a:t>Google Maps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300" b="1"/>
                        <a:t>TripAdvisor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300" b="1"/>
                        <a:t>GetYourGuide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300" b="1"/>
                        <a:t>izi.TRAVEL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300" b="1"/>
                        <a:t>ChatGPT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300" b="1"/>
                        <a:t>Tourist.uz</a:t>
                      </a:r>
                    </a:p>
                  </a:txBody>
                  <a:tcPr/>
                </a:tc>
              </a:tr>
              <a:tr h="484632">
                <a:tc>
                  <a:txBody>
                    <a:bodyPr/>
                    <a:lstStyle/>
                    <a:p>
                      <a:r>
                        <a:rPr sz="1200"/>
                        <a:t>AI kunlik marshrut (budjet bilan)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/>
                        <a:t>—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/>
                        <a:t>qisman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/>
                        <a:t>—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/>
                        <a:t>—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/>
                        <a:t>+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 b="1"/>
                        <a:t>+</a:t>
                      </a:r>
                    </a:p>
                  </a:txBody>
                  <a:tcPr>
                    <a:solidFill>
                      <a:srgbClr val="DDF2F2"/>
                    </a:solidFill>
                  </a:tcPr>
                </a:tc>
              </a:tr>
              <a:tr h="484632">
                <a:tc>
                  <a:txBody>
                    <a:bodyPr/>
                    <a:lstStyle/>
                    <a:p>
                      <a:r>
                        <a:rPr sz="1200"/>
                        <a:t>O'zbekiston obidalariga onlayn chipta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/>
                        <a:t>—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/>
                        <a:t>—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/>
                        <a:t>qisman (tur)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/>
                        <a:t>—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/>
                        <a:t>—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 b="1"/>
                        <a:t>+</a:t>
                      </a:r>
                    </a:p>
                  </a:txBody>
                  <a:tcPr>
                    <a:solidFill>
                      <a:srgbClr val="DDF2F2"/>
                    </a:solidFill>
                  </a:tcPr>
                </a:tc>
              </a:tr>
              <a:tr h="484632">
                <a:tc>
                  <a:txBody>
                    <a:bodyPr/>
                    <a:lstStyle/>
                    <a:p>
                      <a:r>
                        <a:rPr sz="1200"/>
                        <a:t>Bir nechta obida — yagona QR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/>
                        <a:t>—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/>
                        <a:t>—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/>
                        <a:t>—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/>
                        <a:t>—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/>
                        <a:t>—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 b="1"/>
                        <a:t>+</a:t>
                      </a:r>
                    </a:p>
                  </a:txBody>
                  <a:tcPr>
                    <a:solidFill>
                      <a:srgbClr val="DDF2F2"/>
                    </a:solidFill>
                  </a:tcPr>
                </a:tc>
              </a:tr>
              <a:tr h="484632">
                <a:tc>
                  <a:txBody>
                    <a:bodyPr/>
                    <a:lstStyle/>
                    <a:p>
                      <a:r>
                        <a:rPr sz="1200"/>
                        <a:t>Tirbandlikni hisobga olgan yo'l vaqti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/>
                        <a:t>+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/>
                        <a:t>—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/>
                        <a:t>—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/>
                        <a:t>—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/>
                        <a:t>—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 b="1"/>
                        <a:t>+</a:t>
                      </a:r>
                    </a:p>
                  </a:txBody>
                  <a:tcPr>
                    <a:solidFill>
                      <a:srgbClr val="DDF2F2"/>
                    </a:solidFill>
                  </a:tcPr>
                </a:tc>
              </a:tr>
              <a:tr h="484632">
                <a:tc>
                  <a:txBody>
                    <a:bodyPr/>
                    <a:lstStyle/>
                    <a:p>
                      <a:r>
                        <a:rPr sz="1200"/>
                        <a:t>GPS asosida avtomatik audio-gid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/>
                        <a:t>—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/>
                        <a:t>—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/>
                        <a:t>—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/>
                        <a:t>+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/>
                        <a:t>—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 b="1"/>
                        <a:t>+</a:t>
                      </a:r>
                    </a:p>
                  </a:txBody>
                  <a:tcPr>
                    <a:solidFill>
                      <a:srgbClr val="DDF2F2"/>
                    </a:solidFill>
                  </a:tcPr>
                </a:tc>
              </a:tr>
              <a:tr h="484632">
                <a:tc>
                  <a:txBody>
                    <a:bodyPr/>
                    <a:lstStyle/>
                    <a:p>
                      <a:r>
                        <a:rPr sz="1200"/>
                        <a:t>Sayyohning ona tilida AI hikoya (14 til)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/>
                        <a:t>—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/>
                        <a:t>—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/>
                        <a:t>—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/>
                        <a:t>cheklangan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/>
                        <a:t>matn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 b="1"/>
                        <a:t>+</a:t>
                      </a:r>
                    </a:p>
                  </a:txBody>
                  <a:tcPr>
                    <a:solidFill>
                      <a:srgbClr val="DDF2F2"/>
                    </a:solidFill>
                  </a:tcPr>
                </a:tc>
              </a:tr>
              <a:tr h="484632">
                <a:tc>
                  <a:txBody>
                    <a:bodyPr/>
                    <a:lstStyle/>
                    <a:p>
                      <a:r>
                        <a:rPr sz="1200"/>
                        <a:t>Fuqarolikka qarab moslashuv (til, viza, valyuta)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/>
                        <a:t>—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/>
                        <a:t>—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/>
                        <a:t>—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/>
                        <a:t>—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/>
                        <a:t>—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 b="1"/>
                        <a:t>+</a:t>
                      </a:r>
                    </a:p>
                  </a:txBody>
                  <a:tcPr>
                    <a:solidFill>
                      <a:srgbClr val="DDF2F2"/>
                    </a:solidFill>
                  </a:tcPr>
                </a:tc>
              </a:tr>
              <a:tr h="484632">
                <a:tc>
                  <a:txBody>
                    <a:bodyPr/>
                    <a:lstStyle/>
                    <a:p>
                      <a:r>
                        <a:rPr sz="1200"/>
                        <a:t>Narxlar so'mda, mahalliy to'lov (Payme, Click)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/>
                        <a:t>—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/>
                        <a:t>—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/>
                        <a:t>—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/>
                        <a:t>—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/>
                        <a:t>—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 b="1"/>
                        <a:t>+</a:t>
                      </a:r>
                    </a:p>
                  </a:txBody>
                  <a:tcPr>
                    <a:solidFill>
                      <a:srgbClr val="DDF2F2"/>
                    </a:solidFill>
                  </a:tcPr>
                </a:tc>
              </a:tr>
              <a:tr h="484632">
                <a:tc>
                  <a:txBody>
                    <a:bodyPr/>
                    <a:lstStyle/>
                    <a:p>
                      <a:r>
                        <a:rPr sz="1200"/>
                        <a:t>Mutaxassis tekshirgan mahalliy kontent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/>
                        <a:t>—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/>
                        <a:t>sharhlar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/>
                        <a:t>—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/>
                        <a:t>qisman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/>
                        <a:t>—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 b="1"/>
                        <a:t>+</a:t>
                      </a:r>
                    </a:p>
                  </a:txBody>
                  <a:tcPr>
                    <a:solidFill>
                      <a:srgbClr val="DDF2F2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129A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446520"/>
            <a:ext cx="12191695" cy="411480"/>
          </a:xfrm>
          <a:prstGeom prst="rect">
            <a:avLst/>
          </a:prstGeom>
          <a:solidFill>
            <a:srgbClr val="F0EBE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320040"/>
            <a:ext cx="109728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3400" b="1">
                <a:solidFill>
                  <a:srgbClr val="1B4F9C"/>
                </a:solidFill>
                <a:latin typeface="Calibri"/>
              </a:rPr>
              <a:t>Ishlaydigan prototip — hoziroq sinab ko'ring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6473952"/>
            <a:ext cx="7315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200" b="0">
                <a:solidFill>
                  <a:srgbClr val="5C6577"/>
                </a:solidFill>
                <a:latin typeface="Calibri"/>
              </a:rPr>
              <a:t>Tourist.uz  •  «Eng yaxshi kreativ g'oya» 2026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094415" y="6473952"/>
            <a:ext cx="731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200" b="1">
                <a:solidFill>
                  <a:srgbClr val="5C6577"/>
                </a:solidFill>
                <a:latin typeface="Calibri"/>
              </a:rPr>
              <a:t>6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1280160"/>
            <a:ext cx="676656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2000" b="0">
                <a:solidFill>
                  <a:srgbClr val="1C2433"/>
                </a:solidFill>
                <a:latin typeface="Calibri"/>
              </a:rPr>
              <a:t>• 5 hudud, 34 obida, 19 davlat, 14 gid tili</a:t>
            </a:r>
          </a:p>
          <a:p>
            <a:pPr>
              <a:spcAft>
                <a:spcPts val="800"/>
              </a:spcAft>
            </a:pPr>
            <a:r>
              <a:rPr sz="2000" b="0">
                <a:solidFill>
                  <a:srgbClr val="1C2433"/>
                </a:solidFill>
                <a:latin typeface="Calibri"/>
              </a:rPr>
              <a:t>• Sayohat ustasi: fuqarolik → hudud → AI tavsiyasi → marshrut</a:t>
            </a:r>
          </a:p>
          <a:p>
            <a:pPr>
              <a:spcAft>
                <a:spcPts val="800"/>
              </a:spcAft>
            </a:pPr>
            <a:r>
              <a:rPr sz="2000" b="0">
                <a:solidFill>
                  <a:srgbClr val="1C2433"/>
                </a:solidFill>
                <a:latin typeface="Calibri"/>
              </a:rPr>
              <a:t>• 4 transport turi, tirbandlik, Yandex/Google xarita</a:t>
            </a:r>
          </a:p>
          <a:p>
            <a:pPr>
              <a:spcAft>
                <a:spcPts val="800"/>
              </a:spcAft>
            </a:pPr>
            <a:r>
              <a:rPr sz="2000" b="0">
                <a:solidFill>
                  <a:srgbClr val="1C2433"/>
                </a:solidFill>
                <a:latin typeface="Calibri"/>
              </a:rPr>
              <a:t>• AI Planner: budjet va qiziqish bo'yicha ko'p kunlik reja</a:t>
            </a:r>
          </a:p>
          <a:p>
            <a:pPr>
              <a:spcAft>
                <a:spcPts val="800"/>
              </a:spcAft>
            </a:pPr>
            <a:r>
              <a:rPr sz="2000" b="0">
                <a:solidFill>
                  <a:srgbClr val="1C2433"/>
                </a:solidFill>
                <a:latin typeface="Calibri"/>
              </a:rPr>
              <a:t>• GPS audio-gid: radar, avtomatik ishga tushish, ovoz</a:t>
            </a:r>
          </a:p>
          <a:p>
            <a:pPr>
              <a:spcAft>
                <a:spcPts val="800"/>
              </a:spcAft>
            </a:pPr>
            <a:r>
              <a:rPr sz="2000" b="0">
                <a:solidFill>
                  <a:srgbClr val="1C2433"/>
                </a:solidFill>
                <a:latin typeface="Calibri"/>
              </a:rPr>
              <a:t>• Savat, demo to'lov, yagona QR chipta</a:t>
            </a:r>
          </a:p>
          <a:p>
            <a:pPr>
              <a:spcAft>
                <a:spcPts val="800"/>
              </a:spcAft>
            </a:pPr>
            <a:r>
              <a:rPr sz="2000" b="0">
                <a:solidFill>
                  <a:srgbClr val="1C2433"/>
                </a:solidFill>
                <a:latin typeface="Calibri"/>
              </a:rPr>
              <a:t>• Interfeys 3 tilda, telefonga moslashgan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680960" y="1463040"/>
            <a:ext cx="3931920" cy="3840480"/>
          </a:xfrm>
          <a:prstGeom prst="roundRect">
            <a:avLst/>
          </a:prstGeom>
          <a:solidFill>
            <a:srgbClr val="F0EBE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863840" y="1920240"/>
            <a:ext cx="3566160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800"/>
              </a:spcAft>
            </a:pPr>
            <a:r>
              <a:rPr sz="1600" b="1">
                <a:solidFill>
                  <a:srgbClr val="1B4F9C"/>
                </a:solidFill>
                <a:latin typeface="Calibri"/>
              </a:rPr>
              <a:t>JONLI DEMO</a:t>
            </a:r>
          </a:p>
          <a:p>
            <a:pPr algn="ctr">
              <a:spcAft>
                <a:spcPts val="800"/>
              </a:spcAft>
            </a:pPr>
            <a:r>
              <a:rPr sz="1600" b="1">
                <a:solidFill>
                  <a:srgbClr val="1B4F9C"/>
                </a:solidFill>
                <a:latin typeface="Calibri"/>
              </a:rPr>
              <a:t/>
            </a:r>
          </a:p>
          <a:p>
            <a:pPr algn="ctr">
              <a:spcAft>
                <a:spcPts val="800"/>
              </a:spcAft>
            </a:pPr>
            <a:r>
              <a:rPr sz="1600" b="1">
                <a:solidFill>
                  <a:srgbClr val="1B4F9C"/>
                </a:solidFill>
                <a:latin typeface="Calibri"/>
              </a:rPr>
              <a:t>https://ilhomabdullaev.github.io/gulhayo_uchun/</a:t>
            </a:r>
          </a:p>
          <a:p>
            <a:pPr algn="ctr">
              <a:spcAft>
                <a:spcPts val="800"/>
              </a:spcAft>
            </a:pPr>
            <a:r>
              <a:rPr sz="1600" b="1">
                <a:solidFill>
                  <a:srgbClr val="1B4F9C"/>
                </a:solidFill>
                <a:latin typeface="Calibri"/>
              </a:rPr>
              <a:t/>
            </a:r>
          </a:p>
          <a:p>
            <a:pPr algn="ctr">
              <a:spcAft>
                <a:spcPts val="800"/>
              </a:spcAft>
            </a:pPr>
            <a:r>
              <a:rPr sz="1600" b="1">
                <a:solidFill>
                  <a:srgbClr val="1B4F9C"/>
                </a:solidFill>
                <a:latin typeface="Calibri"/>
              </a:rPr>
              <a:t>[bu yerga saytning skrinshotini qo'ying]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129A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446520"/>
            <a:ext cx="12191695" cy="411480"/>
          </a:xfrm>
          <a:prstGeom prst="rect">
            <a:avLst/>
          </a:prstGeom>
          <a:solidFill>
            <a:srgbClr val="F0EBE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320040"/>
            <a:ext cx="109728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3400" b="1">
                <a:solidFill>
                  <a:srgbClr val="1B4F9C"/>
                </a:solidFill>
                <a:latin typeface="Calibri"/>
              </a:rPr>
              <a:t>Texnologiyalar va arxitektura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6473952"/>
            <a:ext cx="7315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200" b="0">
                <a:solidFill>
                  <a:srgbClr val="5C6577"/>
                </a:solidFill>
                <a:latin typeface="Calibri"/>
              </a:rPr>
              <a:t>Tourist.uz  •  «Eng yaxshi kreativ g'oya» 2026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094415" y="6473952"/>
            <a:ext cx="731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200" b="1">
                <a:solidFill>
                  <a:srgbClr val="5C6577"/>
                </a:solidFill>
                <a:latin typeface="Calibri"/>
              </a:rPr>
              <a:t>7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48640" y="1371600"/>
            <a:ext cx="3566160" cy="4206240"/>
          </a:xfrm>
          <a:prstGeom prst="roundRect">
            <a:avLst/>
          </a:prstGeom>
          <a:solidFill>
            <a:srgbClr val="FFFFFF"/>
          </a:solidFill>
          <a:ln>
            <a:solidFill>
              <a:srgbClr val="E2DBC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548640" y="1371600"/>
            <a:ext cx="109728" cy="4206240"/>
          </a:xfrm>
          <a:prstGeom prst="rect">
            <a:avLst/>
          </a:prstGeom>
          <a:solidFill>
            <a:srgbClr val="1B4F9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22960" y="1508760"/>
            <a:ext cx="3200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2000" b="1">
                <a:solidFill>
                  <a:srgbClr val="1B4F9C"/>
                </a:solidFill>
                <a:latin typeface="Calibri"/>
              </a:rPr>
              <a:t>Prototip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22960" y="2057400"/>
            <a:ext cx="3200400" cy="3474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500" b="0">
                <a:solidFill>
                  <a:srgbClr val="1C2433"/>
                </a:solidFill>
                <a:latin typeface="Calibri"/>
              </a:rPr>
              <a:t>HTML5, CSS3, JavaScript</a:t>
            </a:r>
          </a:p>
          <a:p>
            <a:pPr>
              <a:spcAft>
                <a:spcPts val="800"/>
              </a:spcAft>
            </a:pPr>
            <a:r>
              <a:rPr sz="1500" b="0">
                <a:solidFill>
                  <a:srgbClr val="1C2433"/>
                </a:solidFill>
                <a:latin typeface="Calibri"/>
              </a:rPr>
              <a:t>Geolocation API</a:t>
            </a:r>
          </a:p>
          <a:p>
            <a:pPr>
              <a:spcAft>
                <a:spcPts val="800"/>
              </a:spcAft>
            </a:pPr>
            <a:r>
              <a:rPr sz="1500" b="0">
                <a:solidFill>
                  <a:srgbClr val="1C2433"/>
                </a:solidFill>
                <a:latin typeface="Calibri"/>
              </a:rPr>
              <a:t>Web Speech API</a:t>
            </a:r>
          </a:p>
          <a:p>
            <a:pPr>
              <a:spcAft>
                <a:spcPts val="800"/>
              </a:spcAft>
            </a:pPr>
            <a:r>
              <a:rPr sz="1500" b="0">
                <a:solidFill>
                  <a:srgbClr val="1C2433"/>
                </a:solidFill>
                <a:latin typeface="Calibri"/>
              </a:rPr>
              <a:t>GitHub Pages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297680" y="1371600"/>
            <a:ext cx="3566160" cy="4206240"/>
          </a:xfrm>
          <a:prstGeom prst="roundRect">
            <a:avLst/>
          </a:prstGeom>
          <a:solidFill>
            <a:srgbClr val="FFFFFF"/>
          </a:solidFill>
          <a:ln>
            <a:solidFill>
              <a:srgbClr val="E2DBC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4297680" y="1371600"/>
            <a:ext cx="109728" cy="4206240"/>
          </a:xfrm>
          <a:prstGeom prst="rect">
            <a:avLst/>
          </a:prstGeom>
          <a:solidFill>
            <a:srgbClr val="129A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572000" y="1508760"/>
            <a:ext cx="3200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2000" b="1">
                <a:solidFill>
                  <a:srgbClr val="129A9A"/>
                </a:solidFill>
                <a:latin typeface="Calibri"/>
              </a:rPr>
              <a:t>Sun'iy intellekt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72000" y="2057400"/>
            <a:ext cx="3200400" cy="3474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500" b="0">
                <a:solidFill>
                  <a:srgbClr val="1C2433"/>
                </a:solidFill>
                <a:latin typeface="Calibri"/>
              </a:rPr>
              <a:t>Google Gemini — tavsiya, reja, gid matni</a:t>
            </a:r>
          </a:p>
          <a:p>
            <a:pPr>
              <a:spcAft>
                <a:spcPts val="800"/>
              </a:spcAft>
            </a:pPr>
            <a:r>
              <a:rPr sz="1500" b="0">
                <a:solidFill>
                  <a:srgbClr val="1C2433"/>
                </a:solidFill>
                <a:latin typeface="Calibri"/>
              </a:rPr>
              <a:t>Gemini TTS — ovoz</a:t>
            </a:r>
          </a:p>
          <a:p>
            <a:pPr>
              <a:spcAft>
                <a:spcPts val="800"/>
              </a:spcAft>
            </a:pPr>
            <a:r>
              <a:rPr sz="1500" b="0">
                <a:solidFill>
                  <a:srgbClr val="1C2433"/>
                </a:solidFill>
                <a:latin typeface="Calibri"/>
              </a:rPr>
              <a:t>JSON-sxema + validatsiya</a:t>
            </a:r>
          </a:p>
          <a:p>
            <a:pPr>
              <a:spcAft>
                <a:spcPts val="800"/>
              </a:spcAft>
            </a:pPr>
            <a:r>
              <a:rPr sz="1500" b="0">
                <a:solidFill>
                  <a:srgbClr val="1C2433"/>
                </a:solidFill>
                <a:latin typeface="Calibri"/>
              </a:rPr>
              <a:t>Keshlash (xarajatni kamaytirish)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046720" y="1371600"/>
            <a:ext cx="3566160" cy="4206240"/>
          </a:xfrm>
          <a:prstGeom prst="roundRect">
            <a:avLst/>
          </a:prstGeom>
          <a:solidFill>
            <a:srgbClr val="FFFFFF"/>
          </a:solidFill>
          <a:ln>
            <a:solidFill>
              <a:srgbClr val="E2DBC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8046720" y="1371600"/>
            <a:ext cx="109728" cy="4206240"/>
          </a:xfrm>
          <a:prstGeom prst="rect">
            <a:avLst/>
          </a:prstGeom>
          <a:solidFill>
            <a:srgbClr val="C996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321040" y="1508760"/>
            <a:ext cx="3200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2000" b="1">
                <a:solidFill>
                  <a:srgbClr val="C9962B"/>
                </a:solidFill>
                <a:latin typeface="Calibri"/>
              </a:rPr>
              <a:t>To'liq versiya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321040" y="2057400"/>
            <a:ext cx="3200400" cy="3474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500" b="0">
                <a:solidFill>
                  <a:srgbClr val="1C2433"/>
                </a:solidFill>
                <a:latin typeface="Calibri"/>
              </a:rPr>
              <a:t>Flutter mobil ilova</a:t>
            </a:r>
          </a:p>
          <a:p>
            <a:pPr>
              <a:spcAft>
                <a:spcPts val="800"/>
              </a:spcAft>
            </a:pPr>
            <a:r>
              <a:rPr sz="1500" b="0">
                <a:solidFill>
                  <a:srgbClr val="1C2433"/>
                </a:solidFill>
                <a:latin typeface="Calibri"/>
              </a:rPr>
              <a:t>Python/FastAPI yoki Laravel</a:t>
            </a:r>
          </a:p>
          <a:p>
            <a:pPr>
              <a:spcAft>
                <a:spcPts val="800"/>
              </a:spcAft>
            </a:pPr>
            <a:r>
              <a:rPr sz="1500" b="0">
                <a:solidFill>
                  <a:srgbClr val="1C2433"/>
                </a:solidFill>
                <a:latin typeface="Calibri"/>
              </a:rPr>
              <a:t>PostgreSQL</a:t>
            </a:r>
          </a:p>
          <a:p>
            <a:pPr>
              <a:spcAft>
                <a:spcPts val="800"/>
              </a:spcAft>
            </a:pPr>
            <a:r>
              <a:rPr sz="1500" b="0">
                <a:solidFill>
                  <a:srgbClr val="1C2433"/>
                </a:solidFill>
                <a:latin typeface="Calibri"/>
              </a:rPr>
              <a:t>Payme, Click, Uzcard, Visa</a:t>
            </a:r>
          </a:p>
          <a:p>
            <a:pPr>
              <a:spcAft>
                <a:spcPts val="800"/>
              </a:spcAft>
            </a:pPr>
            <a:r>
              <a:rPr sz="1500" b="0">
                <a:solidFill>
                  <a:srgbClr val="1C2433"/>
                </a:solidFill>
                <a:latin typeface="Calibri"/>
              </a:rPr>
              <a:t>Yandex/Google tirbandlik API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129A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446520"/>
            <a:ext cx="12191695" cy="411480"/>
          </a:xfrm>
          <a:prstGeom prst="rect">
            <a:avLst/>
          </a:prstGeom>
          <a:solidFill>
            <a:srgbClr val="F0EBE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320040"/>
            <a:ext cx="109728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3400" b="1">
                <a:solidFill>
                  <a:srgbClr val="1B4F9C"/>
                </a:solidFill>
                <a:latin typeface="Calibri"/>
              </a:rPr>
              <a:t>Xarajatlar smetasi: 97 537 440 so'm (≈ $7,680)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6473952"/>
            <a:ext cx="7315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200" b="0">
                <a:solidFill>
                  <a:srgbClr val="5C6577"/>
                </a:solidFill>
                <a:latin typeface="Calibri"/>
              </a:rPr>
              <a:t>Tourist.uz  •  «Eng yaxshi kreativ g'oya» 2026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094415" y="6473952"/>
            <a:ext cx="731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200" b="1">
                <a:solidFill>
                  <a:srgbClr val="5C6577"/>
                </a:solidFill>
                <a:latin typeface="Calibri"/>
              </a:rPr>
              <a:t>8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1371600"/>
            <a:ext cx="32918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700" b="1">
                <a:solidFill>
                  <a:srgbClr val="1C2433"/>
                </a:solidFill>
                <a:latin typeface="Calibri"/>
              </a:rPr>
              <a:t>Dasturiy ta'minot</a:t>
            </a:r>
          </a:p>
        </p:txBody>
      </p:sp>
      <p:sp>
        <p:nvSpPr>
          <p:cNvPr id="8" name="Rectangle 7"/>
          <p:cNvSpPr/>
          <p:nvPr/>
        </p:nvSpPr>
        <p:spPr>
          <a:xfrm>
            <a:off x="3931920" y="1444752"/>
            <a:ext cx="5669280" cy="347472"/>
          </a:xfrm>
          <a:prstGeom prst="rect">
            <a:avLst/>
          </a:prstGeom>
          <a:solidFill>
            <a:srgbClr val="129A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692640" y="1371600"/>
            <a:ext cx="2286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500" b="0">
                <a:solidFill>
                  <a:srgbClr val="1C2433"/>
                </a:solidFill>
                <a:latin typeface="Calibri"/>
              </a:rPr>
              <a:t>52 000 000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48640" y="1938528"/>
            <a:ext cx="32918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700" b="1">
                <a:solidFill>
                  <a:srgbClr val="1C2433"/>
                </a:solidFill>
                <a:latin typeface="Calibri"/>
              </a:rPr>
              <a:t>Kontent</a:t>
            </a:r>
          </a:p>
        </p:txBody>
      </p:sp>
      <p:sp>
        <p:nvSpPr>
          <p:cNvPr id="11" name="Rectangle 10"/>
          <p:cNvSpPr/>
          <p:nvPr/>
        </p:nvSpPr>
        <p:spPr>
          <a:xfrm>
            <a:off x="3931920" y="2011680"/>
            <a:ext cx="1308295" cy="347472"/>
          </a:xfrm>
          <a:prstGeom prst="rect">
            <a:avLst/>
          </a:prstGeom>
          <a:solidFill>
            <a:srgbClr val="129A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331655" y="1938528"/>
            <a:ext cx="2286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500" b="0">
                <a:solidFill>
                  <a:srgbClr val="1C2433"/>
                </a:solidFill>
                <a:latin typeface="Calibri"/>
              </a:rPr>
              <a:t>12 000 000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48640" y="2505456"/>
            <a:ext cx="32918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700" b="1">
                <a:solidFill>
                  <a:srgbClr val="1C2433"/>
                </a:solidFill>
                <a:latin typeface="Calibri"/>
              </a:rPr>
              <a:t>Sun'iy intellekt va API</a:t>
            </a:r>
          </a:p>
        </p:txBody>
      </p:sp>
      <p:sp>
        <p:nvSpPr>
          <p:cNvPr id="14" name="Rectangle 13"/>
          <p:cNvSpPr/>
          <p:nvPr/>
        </p:nvSpPr>
        <p:spPr>
          <a:xfrm>
            <a:off x="3931920" y="2578608"/>
            <a:ext cx="1163074" cy="347472"/>
          </a:xfrm>
          <a:prstGeom prst="rect">
            <a:avLst/>
          </a:prstGeom>
          <a:solidFill>
            <a:srgbClr val="129A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5186434" y="2505456"/>
            <a:ext cx="2286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500" b="0">
                <a:solidFill>
                  <a:srgbClr val="1C2433"/>
                </a:solidFill>
                <a:latin typeface="Calibri"/>
              </a:rPr>
              <a:t>10 668 000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48640" y="3072384"/>
            <a:ext cx="32918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700" b="1">
                <a:solidFill>
                  <a:srgbClr val="1C2433"/>
                </a:solidFill>
                <a:latin typeface="Calibri"/>
              </a:rPr>
              <a:t>Infratuzilma</a:t>
            </a:r>
          </a:p>
        </p:txBody>
      </p:sp>
      <p:sp>
        <p:nvSpPr>
          <p:cNvPr id="17" name="Rectangle 16"/>
          <p:cNvSpPr/>
          <p:nvPr/>
        </p:nvSpPr>
        <p:spPr>
          <a:xfrm>
            <a:off x="3931920" y="3145536"/>
            <a:ext cx="515119" cy="347472"/>
          </a:xfrm>
          <a:prstGeom prst="rect">
            <a:avLst/>
          </a:prstGeom>
          <a:solidFill>
            <a:srgbClr val="129A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4538479" y="3072384"/>
            <a:ext cx="2286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500" b="0">
                <a:solidFill>
                  <a:srgbClr val="1C2433"/>
                </a:solidFill>
                <a:latin typeface="Calibri"/>
              </a:rPr>
              <a:t>4 724 800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48640" y="3639312"/>
            <a:ext cx="32918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700" b="1">
                <a:solidFill>
                  <a:srgbClr val="1C2433"/>
                </a:solidFill>
                <a:latin typeface="Calibri"/>
              </a:rPr>
              <a:t>Integratsiya</a:t>
            </a:r>
          </a:p>
        </p:txBody>
      </p:sp>
      <p:sp>
        <p:nvSpPr>
          <p:cNvPr id="20" name="Rectangle 19"/>
          <p:cNvSpPr/>
          <p:nvPr/>
        </p:nvSpPr>
        <p:spPr>
          <a:xfrm>
            <a:off x="3931920" y="3712464"/>
            <a:ext cx="218049" cy="347472"/>
          </a:xfrm>
          <a:prstGeom prst="rect">
            <a:avLst/>
          </a:prstGeom>
          <a:solidFill>
            <a:srgbClr val="129A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4241409" y="3639312"/>
            <a:ext cx="2286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500" b="0">
                <a:solidFill>
                  <a:srgbClr val="1C2433"/>
                </a:solidFill>
                <a:latin typeface="Calibri"/>
              </a:rPr>
              <a:t>2 000 000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48640" y="4206240"/>
            <a:ext cx="32918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700" b="1">
                <a:solidFill>
                  <a:srgbClr val="1C2433"/>
                </a:solidFill>
                <a:latin typeface="Calibri"/>
              </a:rPr>
              <a:t>Marketing</a:t>
            </a:r>
          </a:p>
        </p:txBody>
      </p:sp>
      <p:sp>
        <p:nvSpPr>
          <p:cNvPr id="23" name="Rectangle 22"/>
          <p:cNvSpPr/>
          <p:nvPr/>
        </p:nvSpPr>
        <p:spPr>
          <a:xfrm>
            <a:off x="3931920" y="4279392"/>
            <a:ext cx="981221" cy="347472"/>
          </a:xfrm>
          <a:prstGeom prst="rect">
            <a:avLst/>
          </a:prstGeom>
          <a:solidFill>
            <a:srgbClr val="129A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5004581" y="4206240"/>
            <a:ext cx="2286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500" b="0">
                <a:solidFill>
                  <a:srgbClr val="1C2433"/>
                </a:solidFill>
                <a:latin typeface="Calibri"/>
              </a:rPr>
              <a:t>9 000 000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48640" y="4773168"/>
            <a:ext cx="32918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700" b="1">
                <a:solidFill>
                  <a:srgbClr val="1C2433"/>
                </a:solidFill>
                <a:latin typeface="Calibri"/>
              </a:rPr>
              <a:t>Sinov</a:t>
            </a:r>
          </a:p>
        </p:txBody>
      </p:sp>
      <p:sp>
        <p:nvSpPr>
          <p:cNvPr id="26" name="Rectangle 25"/>
          <p:cNvSpPr/>
          <p:nvPr/>
        </p:nvSpPr>
        <p:spPr>
          <a:xfrm>
            <a:off x="3931920" y="4846320"/>
            <a:ext cx="272561" cy="347472"/>
          </a:xfrm>
          <a:prstGeom prst="rect">
            <a:avLst/>
          </a:prstGeom>
          <a:solidFill>
            <a:srgbClr val="129A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4295921" y="4773168"/>
            <a:ext cx="2286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500" b="0">
                <a:solidFill>
                  <a:srgbClr val="1C2433"/>
                </a:solidFill>
                <a:latin typeface="Calibri"/>
              </a:rPr>
              <a:t>2 500 000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548640" y="5340096"/>
            <a:ext cx="32918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700" b="1">
                <a:solidFill>
                  <a:srgbClr val="1C2433"/>
                </a:solidFill>
                <a:latin typeface="Calibri"/>
              </a:rPr>
              <a:t>Kutilmagan (5%)</a:t>
            </a:r>
          </a:p>
        </p:txBody>
      </p:sp>
      <p:sp>
        <p:nvSpPr>
          <p:cNvPr id="29" name="Rectangle 28"/>
          <p:cNvSpPr/>
          <p:nvPr/>
        </p:nvSpPr>
        <p:spPr>
          <a:xfrm>
            <a:off x="3931920" y="5413248"/>
            <a:ext cx="506380" cy="347472"/>
          </a:xfrm>
          <a:prstGeom prst="rect">
            <a:avLst/>
          </a:prstGeom>
          <a:solidFill>
            <a:srgbClr val="129A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4529740" y="5340096"/>
            <a:ext cx="2286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500" b="0">
                <a:solidFill>
                  <a:srgbClr val="1C2433"/>
                </a:solidFill>
                <a:latin typeface="Calibri"/>
              </a:rPr>
              <a:t>4 644 640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548640" y="5760720"/>
            <a:ext cx="10972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500" b="0">
                <a:solidFill>
                  <a:srgbClr val="5C6577"/>
                </a:solidFill>
                <a:latin typeface="Calibri"/>
              </a:rPr>
              <a:t>Prototip bepul xizmatlarda deyarli nol xarajat bilan yaratildi. Batafsil — Excel smetada.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129A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446520"/>
            <a:ext cx="12191695" cy="411480"/>
          </a:xfrm>
          <a:prstGeom prst="rect">
            <a:avLst/>
          </a:prstGeom>
          <a:solidFill>
            <a:srgbClr val="F0EBE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320040"/>
            <a:ext cx="109728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3400" b="1">
                <a:solidFill>
                  <a:srgbClr val="1B4F9C"/>
                </a:solidFill>
                <a:latin typeface="Calibri"/>
              </a:rPr>
              <a:t>Daromad modeli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6473952"/>
            <a:ext cx="7315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200" b="0">
                <a:solidFill>
                  <a:srgbClr val="5C6577"/>
                </a:solidFill>
                <a:latin typeface="Calibri"/>
              </a:rPr>
              <a:t>Tourist.uz  •  «Eng yaxshi kreativ g'oya» 2026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094415" y="6473952"/>
            <a:ext cx="731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200" b="1">
                <a:solidFill>
                  <a:srgbClr val="5C6577"/>
                </a:solidFill>
                <a:latin typeface="Calibri"/>
              </a:rPr>
              <a:t>9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48640" y="1371600"/>
            <a:ext cx="5394960" cy="2011680"/>
          </a:xfrm>
          <a:prstGeom prst="roundRect">
            <a:avLst/>
          </a:prstGeom>
          <a:solidFill>
            <a:srgbClr val="FFFFFF"/>
          </a:solidFill>
          <a:ln>
            <a:solidFill>
              <a:srgbClr val="E2DBC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548640" y="1371600"/>
            <a:ext cx="109728" cy="2011680"/>
          </a:xfrm>
          <a:prstGeom prst="rect">
            <a:avLst/>
          </a:prstGeom>
          <a:solidFill>
            <a:srgbClr val="1B4F9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22960" y="1508760"/>
            <a:ext cx="50292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2000" b="1">
                <a:solidFill>
                  <a:srgbClr val="1B4F9C"/>
                </a:solidFill>
                <a:latin typeface="Calibri"/>
              </a:rPr>
              <a:t>Chipta komissiyasi 5–7%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22960" y="2057400"/>
            <a:ext cx="502920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500" b="0">
                <a:solidFill>
                  <a:srgbClr val="1C2433"/>
                </a:solidFill>
                <a:latin typeface="Calibri"/>
              </a:rPr>
              <a:t>Muzeylar va agentlik bilan hamkorlikda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217920" y="1371600"/>
            <a:ext cx="5394960" cy="2011680"/>
          </a:xfrm>
          <a:prstGeom prst="roundRect">
            <a:avLst/>
          </a:prstGeom>
          <a:solidFill>
            <a:srgbClr val="FFFFFF"/>
          </a:solidFill>
          <a:ln>
            <a:solidFill>
              <a:srgbClr val="E2DBC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6217920" y="1371600"/>
            <a:ext cx="109728" cy="2011680"/>
          </a:xfrm>
          <a:prstGeom prst="rect">
            <a:avLst/>
          </a:prstGeom>
          <a:solidFill>
            <a:srgbClr val="129A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492240" y="1508760"/>
            <a:ext cx="50292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2000" b="1">
                <a:solidFill>
                  <a:srgbClr val="129A9A"/>
                </a:solidFill>
                <a:latin typeface="Calibri"/>
              </a:rPr>
              <a:t>Premium audio-gid $2–3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92240" y="2057400"/>
            <a:ext cx="502920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500" b="0">
                <a:solidFill>
                  <a:srgbClr val="1C2433"/>
                </a:solidFill>
                <a:latin typeface="Calibri"/>
              </a:rPr>
              <a:t>Kengaytirilgan ekskursiya, oflayn paket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548640" y="3657600"/>
            <a:ext cx="5394960" cy="2011680"/>
          </a:xfrm>
          <a:prstGeom prst="roundRect">
            <a:avLst/>
          </a:prstGeom>
          <a:solidFill>
            <a:srgbClr val="FFFFFF"/>
          </a:solidFill>
          <a:ln>
            <a:solidFill>
              <a:srgbClr val="E2DBC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548640" y="3657600"/>
            <a:ext cx="109728" cy="2011680"/>
          </a:xfrm>
          <a:prstGeom prst="rect">
            <a:avLst/>
          </a:prstGeom>
          <a:solidFill>
            <a:srgbClr val="C996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22960" y="3794760"/>
            <a:ext cx="50292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2000" b="1">
                <a:solidFill>
                  <a:srgbClr val="C9962B"/>
                </a:solidFill>
                <a:latin typeface="Calibri"/>
              </a:rPr>
              <a:t>Hamkorlar reklamasi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22960" y="4343400"/>
            <a:ext cx="502920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500" b="0">
                <a:solidFill>
                  <a:srgbClr val="1C2433"/>
                </a:solidFill>
                <a:latin typeface="Calibri"/>
              </a:rPr>
              <a:t>Restoran, mehmonxona, hunarmandlar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217920" y="3657600"/>
            <a:ext cx="5394960" cy="2011680"/>
          </a:xfrm>
          <a:prstGeom prst="roundRect">
            <a:avLst/>
          </a:prstGeom>
          <a:solidFill>
            <a:srgbClr val="FFFFFF"/>
          </a:solidFill>
          <a:ln>
            <a:solidFill>
              <a:srgbClr val="E2DBC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6217920" y="3657600"/>
            <a:ext cx="109728" cy="2011680"/>
          </a:xfrm>
          <a:prstGeom prst="rect">
            <a:avLst/>
          </a:prstGeom>
          <a:solidFill>
            <a:srgbClr val="1B4F9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492240" y="3794760"/>
            <a:ext cx="50292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2000" b="1">
                <a:solidFill>
                  <a:srgbClr val="1B4F9C"/>
                </a:solidFill>
                <a:latin typeface="Calibri"/>
              </a:rPr>
              <a:t>B2B (white-label)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492240" y="4343400"/>
            <a:ext cx="502920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500" b="0">
                <a:solidFill>
                  <a:srgbClr val="1C2433"/>
                </a:solidFill>
                <a:latin typeface="Calibri"/>
              </a:rPr>
              <a:t>Turoperator va mehmonxonalar uchun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129A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446520"/>
            <a:ext cx="12191695" cy="411480"/>
          </a:xfrm>
          <a:prstGeom prst="rect">
            <a:avLst/>
          </a:prstGeom>
          <a:solidFill>
            <a:srgbClr val="F0EBE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320040"/>
            <a:ext cx="109728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3400" b="1">
                <a:solidFill>
                  <a:srgbClr val="1B4F9C"/>
                </a:solidFill>
                <a:latin typeface="Calibri"/>
              </a:rPr>
              <a:t>Kutilayotgan natijalar (1-yil)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6473952"/>
            <a:ext cx="7315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200" b="0">
                <a:solidFill>
                  <a:srgbClr val="5C6577"/>
                </a:solidFill>
                <a:latin typeface="Calibri"/>
              </a:rPr>
              <a:t>Tourist.uz  •  «Eng yaxshi kreativ g'oya» 2026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094415" y="6473952"/>
            <a:ext cx="731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200" b="1">
                <a:solidFill>
                  <a:srgbClr val="5C6577"/>
                </a:solidFill>
                <a:latin typeface="Calibri"/>
              </a:rPr>
              <a:t>10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48640" y="1371600"/>
            <a:ext cx="3566160" cy="2011680"/>
          </a:xfrm>
          <a:prstGeom prst="roundRect">
            <a:avLst/>
          </a:prstGeom>
          <a:solidFill>
            <a:srgbClr val="FFFFFF"/>
          </a:solidFill>
          <a:ln>
            <a:solidFill>
              <a:srgbClr val="E2DBC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48640" y="1645920"/>
            <a:ext cx="356616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800"/>
              </a:spcAft>
            </a:pPr>
            <a:r>
              <a:rPr sz="4400" b="1">
                <a:solidFill>
                  <a:srgbClr val="1B4F9C"/>
                </a:solidFill>
                <a:latin typeface="Calibri"/>
              </a:rPr>
              <a:t>10 000+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2606040"/>
            <a:ext cx="356616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800"/>
              </a:spcAft>
            </a:pPr>
            <a:r>
              <a:rPr sz="1800" b="0">
                <a:solidFill>
                  <a:srgbClr val="1C2433"/>
                </a:solidFill>
                <a:latin typeface="Calibri"/>
              </a:rPr>
              <a:t>faol foydalanuvchi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343400" y="1371600"/>
            <a:ext cx="3566160" cy="2011680"/>
          </a:xfrm>
          <a:prstGeom prst="roundRect">
            <a:avLst/>
          </a:prstGeom>
          <a:solidFill>
            <a:srgbClr val="FFFFFF"/>
          </a:solidFill>
          <a:ln>
            <a:solidFill>
              <a:srgbClr val="E2DBC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343400" y="1645920"/>
            <a:ext cx="356616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800"/>
              </a:spcAft>
            </a:pPr>
            <a:r>
              <a:rPr sz="4400" b="1">
                <a:solidFill>
                  <a:srgbClr val="129A9A"/>
                </a:solidFill>
                <a:latin typeface="Calibri"/>
              </a:rPr>
              <a:t>15 000+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343400" y="2606040"/>
            <a:ext cx="356616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800"/>
              </a:spcAft>
            </a:pPr>
            <a:r>
              <a:rPr sz="1800" b="0">
                <a:solidFill>
                  <a:srgbClr val="1C2433"/>
                </a:solidFill>
                <a:latin typeface="Calibri"/>
              </a:rPr>
              <a:t>onlayn chipta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138160" y="1371600"/>
            <a:ext cx="3566160" cy="2011680"/>
          </a:xfrm>
          <a:prstGeom prst="roundRect">
            <a:avLst/>
          </a:prstGeom>
          <a:solidFill>
            <a:srgbClr val="FFFFFF"/>
          </a:solidFill>
          <a:ln>
            <a:solidFill>
              <a:srgbClr val="E2DBC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138160" y="1645920"/>
            <a:ext cx="356616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800"/>
              </a:spcAft>
            </a:pPr>
            <a:r>
              <a:rPr sz="4400" b="1">
                <a:solidFill>
                  <a:srgbClr val="C9962B"/>
                </a:solidFill>
                <a:latin typeface="Calibri"/>
              </a:rPr>
              <a:t>30–50%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138160" y="2606040"/>
            <a:ext cx="356616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800"/>
              </a:spcAft>
            </a:pPr>
            <a:r>
              <a:rPr sz="1800" b="0">
                <a:solidFill>
                  <a:srgbClr val="1C2433"/>
                </a:solidFill>
                <a:latin typeface="Calibri"/>
              </a:rPr>
              <a:t>navbat vaqti qisqaradi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48640" y="3657600"/>
            <a:ext cx="3566160" cy="2011680"/>
          </a:xfrm>
          <a:prstGeom prst="roundRect">
            <a:avLst/>
          </a:prstGeom>
          <a:solidFill>
            <a:srgbClr val="FFFFFF"/>
          </a:solidFill>
          <a:ln>
            <a:solidFill>
              <a:srgbClr val="E2DBC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548640" y="3931920"/>
            <a:ext cx="356616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800"/>
              </a:spcAft>
            </a:pPr>
            <a:r>
              <a:rPr sz="4400" b="1">
                <a:solidFill>
                  <a:srgbClr val="1B4F9C"/>
                </a:solidFill>
                <a:latin typeface="Calibri"/>
              </a:rPr>
              <a:t>14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48640" y="4892040"/>
            <a:ext cx="356616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800"/>
              </a:spcAft>
            </a:pPr>
            <a:r>
              <a:rPr sz="1800" b="0">
                <a:solidFill>
                  <a:srgbClr val="1C2433"/>
                </a:solidFill>
                <a:latin typeface="Calibri"/>
              </a:rPr>
              <a:t>gid tili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4343400" y="3657600"/>
            <a:ext cx="3566160" cy="2011680"/>
          </a:xfrm>
          <a:prstGeom prst="roundRect">
            <a:avLst/>
          </a:prstGeom>
          <a:solidFill>
            <a:srgbClr val="FFFFFF"/>
          </a:solidFill>
          <a:ln>
            <a:solidFill>
              <a:srgbClr val="E2DBC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4343400" y="3931920"/>
            <a:ext cx="356616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800"/>
              </a:spcAft>
            </a:pPr>
            <a:r>
              <a:rPr sz="4400" b="1">
                <a:solidFill>
                  <a:srgbClr val="129A9A"/>
                </a:solidFill>
                <a:latin typeface="Calibri"/>
              </a:rPr>
              <a:t>5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343400" y="4892040"/>
            <a:ext cx="356616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800"/>
              </a:spcAft>
            </a:pPr>
            <a:r>
              <a:rPr sz="1800" b="0">
                <a:solidFill>
                  <a:srgbClr val="1C2433"/>
                </a:solidFill>
                <a:latin typeface="Calibri"/>
              </a:rPr>
              <a:t>hudud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8138160" y="3657600"/>
            <a:ext cx="3566160" cy="2011680"/>
          </a:xfrm>
          <a:prstGeom prst="roundRect">
            <a:avLst/>
          </a:prstGeom>
          <a:solidFill>
            <a:srgbClr val="FFFFFF"/>
          </a:solidFill>
          <a:ln>
            <a:solidFill>
              <a:srgbClr val="E2DBC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8138160" y="3931920"/>
            <a:ext cx="356616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800"/>
              </a:spcAft>
            </a:pPr>
            <a:r>
              <a:rPr sz="4400" b="1">
                <a:solidFill>
                  <a:srgbClr val="C9962B"/>
                </a:solidFill>
                <a:latin typeface="Calibri"/>
              </a:rPr>
              <a:t>50+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138160" y="4892040"/>
            <a:ext cx="356616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800"/>
              </a:spcAft>
            </a:pPr>
            <a:r>
              <a:rPr sz="1800" b="0">
                <a:solidFill>
                  <a:srgbClr val="1C2433"/>
                </a:solidFill>
                <a:latin typeface="Calibri"/>
              </a:rPr>
              <a:t>mahalliy hamkor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129A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446520"/>
            <a:ext cx="12191695" cy="411480"/>
          </a:xfrm>
          <a:prstGeom prst="rect">
            <a:avLst/>
          </a:prstGeom>
          <a:solidFill>
            <a:srgbClr val="F0EBE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320040"/>
            <a:ext cx="109728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3400" b="1">
                <a:solidFill>
                  <a:srgbClr val="1B4F9C"/>
                </a:solidFill>
                <a:latin typeface="Calibri"/>
              </a:rPr>
              <a:t>Amalga oshirish rejasi (12 oy)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6473952"/>
            <a:ext cx="7315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200" b="0">
                <a:solidFill>
                  <a:srgbClr val="5C6577"/>
                </a:solidFill>
                <a:latin typeface="Calibri"/>
              </a:rPr>
              <a:t>Tourist.uz  •  «Eng yaxshi kreativ g'oya» 2026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094415" y="6473952"/>
            <a:ext cx="731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200" b="1">
                <a:solidFill>
                  <a:srgbClr val="5C6577"/>
                </a:solidFill>
                <a:latin typeface="Calibri"/>
              </a:rPr>
              <a:t>11</a:t>
            </a:r>
          </a:p>
        </p:txBody>
      </p:sp>
      <p:sp>
        <p:nvSpPr>
          <p:cNvPr id="7" name="Rectangle 6"/>
          <p:cNvSpPr/>
          <p:nvPr/>
        </p:nvSpPr>
        <p:spPr>
          <a:xfrm>
            <a:off x="731520" y="3063240"/>
            <a:ext cx="10789920" cy="91440"/>
          </a:xfrm>
          <a:prstGeom prst="rect">
            <a:avLst/>
          </a:prstGeom>
          <a:solidFill>
            <a:srgbClr val="E2DBC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1234440" y="2834640"/>
            <a:ext cx="457200" cy="457200"/>
          </a:xfrm>
          <a:prstGeom prst="ellipse">
            <a:avLst/>
          </a:prstGeom>
          <a:solidFill>
            <a:srgbClr val="C996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48640" y="1828800"/>
            <a:ext cx="18288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800"/>
              </a:spcAft>
            </a:pPr>
            <a:r>
              <a:rPr sz="1800" b="1">
                <a:solidFill>
                  <a:srgbClr val="1C2433"/>
                </a:solidFill>
                <a:latin typeface="Calibri"/>
              </a:rPr>
              <a:t>Prototip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48640" y="3474720"/>
            <a:ext cx="18288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800"/>
              </a:spcAft>
            </a:pPr>
            <a:r>
              <a:rPr sz="1600" b="0">
                <a:solidFill>
                  <a:srgbClr val="1C2433"/>
                </a:solidFill>
                <a:latin typeface="Calibri"/>
              </a:rPr>
              <a:t>bajarildi ✓</a:t>
            </a:r>
          </a:p>
        </p:txBody>
      </p:sp>
      <p:sp>
        <p:nvSpPr>
          <p:cNvPr id="11" name="Oval 10"/>
          <p:cNvSpPr/>
          <p:nvPr/>
        </p:nvSpPr>
        <p:spPr>
          <a:xfrm>
            <a:off x="3127248" y="2834640"/>
            <a:ext cx="457200" cy="457200"/>
          </a:xfrm>
          <a:prstGeom prst="ellipse">
            <a:avLst/>
          </a:prstGeom>
          <a:solidFill>
            <a:srgbClr val="1B4F9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2441448" y="1828800"/>
            <a:ext cx="18288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800"/>
              </a:spcAft>
            </a:pPr>
            <a:r>
              <a:rPr sz="1800" b="1">
                <a:solidFill>
                  <a:srgbClr val="1C2433"/>
                </a:solidFill>
                <a:latin typeface="Calibri"/>
              </a:rPr>
              <a:t>Hamkorlik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441448" y="3474720"/>
            <a:ext cx="18288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800"/>
              </a:spcAft>
            </a:pPr>
            <a:r>
              <a:rPr sz="1600" b="0">
                <a:solidFill>
                  <a:srgbClr val="1C2433"/>
                </a:solidFill>
                <a:latin typeface="Calibri"/>
              </a:rPr>
              <a:t>1–2-oy</a:t>
            </a:r>
          </a:p>
        </p:txBody>
      </p:sp>
      <p:sp>
        <p:nvSpPr>
          <p:cNvPr id="14" name="Oval 13"/>
          <p:cNvSpPr/>
          <p:nvPr/>
        </p:nvSpPr>
        <p:spPr>
          <a:xfrm>
            <a:off x="5020055" y="2834640"/>
            <a:ext cx="457200" cy="457200"/>
          </a:xfrm>
          <a:prstGeom prst="ellipse">
            <a:avLst/>
          </a:prstGeom>
          <a:solidFill>
            <a:srgbClr val="1B4F9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334255" y="1828800"/>
            <a:ext cx="18288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800"/>
              </a:spcAft>
            </a:pPr>
            <a:r>
              <a:rPr sz="1800" b="1">
                <a:solidFill>
                  <a:srgbClr val="1C2433"/>
                </a:solidFill>
                <a:latin typeface="Calibri"/>
              </a:rPr>
              <a:t>MVP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334255" y="3474720"/>
            <a:ext cx="18288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800"/>
              </a:spcAft>
            </a:pPr>
            <a:r>
              <a:rPr sz="1600" b="0">
                <a:solidFill>
                  <a:srgbClr val="1C2433"/>
                </a:solidFill>
                <a:latin typeface="Calibri"/>
              </a:rPr>
              <a:t>2–6-oy</a:t>
            </a:r>
          </a:p>
        </p:txBody>
      </p:sp>
      <p:sp>
        <p:nvSpPr>
          <p:cNvPr id="17" name="Oval 16"/>
          <p:cNvSpPr/>
          <p:nvPr/>
        </p:nvSpPr>
        <p:spPr>
          <a:xfrm>
            <a:off x="6912863" y="2834640"/>
            <a:ext cx="457200" cy="457200"/>
          </a:xfrm>
          <a:prstGeom prst="ellipse">
            <a:avLst/>
          </a:prstGeom>
          <a:solidFill>
            <a:srgbClr val="1B4F9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227063" y="1828800"/>
            <a:ext cx="18288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800"/>
              </a:spcAft>
            </a:pPr>
            <a:r>
              <a:rPr sz="1800" b="1">
                <a:solidFill>
                  <a:srgbClr val="1C2433"/>
                </a:solidFill>
                <a:latin typeface="Calibri"/>
              </a:rPr>
              <a:t>Dala sinovi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227063" y="3474720"/>
            <a:ext cx="18288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800"/>
              </a:spcAft>
            </a:pPr>
            <a:r>
              <a:rPr sz="1600" b="0">
                <a:solidFill>
                  <a:srgbClr val="1C2433"/>
                </a:solidFill>
                <a:latin typeface="Calibri"/>
              </a:rPr>
              <a:t>6–7-oy</a:t>
            </a:r>
          </a:p>
        </p:txBody>
      </p:sp>
      <p:sp>
        <p:nvSpPr>
          <p:cNvPr id="20" name="Oval 19"/>
          <p:cNvSpPr/>
          <p:nvPr/>
        </p:nvSpPr>
        <p:spPr>
          <a:xfrm>
            <a:off x="8805671" y="2834640"/>
            <a:ext cx="457200" cy="457200"/>
          </a:xfrm>
          <a:prstGeom prst="ellipse">
            <a:avLst/>
          </a:prstGeom>
          <a:solidFill>
            <a:srgbClr val="1B4F9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119871" y="1828800"/>
            <a:ext cx="18288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800"/>
              </a:spcAft>
            </a:pPr>
            <a:r>
              <a:rPr sz="1800" b="1">
                <a:solidFill>
                  <a:srgbClr val="1C2433"/>
                </a:solidFill>
                <a:latin typeface="Calibri"/>
              </a:rPr>
              <a:t>Ishga tushirish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119871" y="3474720"/>
            <a:ext cx="18288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800"/>
              </a:spcAft>
            </a:pPr>
            <a:r>
              <a:rPr sz="1600" b="0">
                <a:solidFill>
                  <a:srgbClr val="1C2433"/>
                </a:solidFill>
                <a:latin typeface="Calibri"/>
              </a:rPr>
              <a:t>8-oy</a:t>
            </a:r>
          </a:p>
        </p:txBody>
      </p:sp>
      <p:sp>
        <p:nvSpPr>
          <p:cNvPr id="23" name="Oval 22"/>
          <p:cNvSpPr/>
          <p:nvPr/>
        </p:nvSpPr>
        <p:spPr>
          <a:xfrm>
            <a:off x="10698480" y="2834640"/>
            <a:ext cx="457200" cy="457200"/>
          </a:xfrm>
          <a:prstGeom prst="ellipse">
            <a:avLst/>
          </a:prstGeom>
          <a:solidFill>
            <a:srgbClr val="1B4F9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10012680" y="1828800"/>
            <a:ext cx="18288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800"/>
              </a:spcAft>
            </a:pPr>
            <a:r>
              <a:rPr sz="1800" b="1">
                <a:solidFill>
                  <a:srgbClr val="1C2433"/>
                </a:solidFill>
                <a:latin typeface="Calibri"/>
              </a:rPr>
              <a:t>Kengayish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0012680" y="3474720"/>
            <a:ext cx="18288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800"/>
              </a:spcAft>
            </a:pPr>
            <a:r>
              <a:rPr sz="1600" b="0">
                <a:solidFill>
                  <a:srgbClr val="1C2433"/>
                </a:solidFill>
                <a:latin typeface="Calibri"/>
              </a:rPr>
              <a:t>9–12-oy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B4F9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1828800"/>
            <a:ext cx="1069848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800"/>
              </a:spcAft>
            </a:pPr>
            <a:r>
              <a:rPr sz="5400" b="1">
                <a:solidFill>
                  <a:srgbClr val="FFFFFF"/>
                </a:solidFill>
                <a:latin typeface="Calibri"/>
              </a:rPr>
              <a:t>E'tiboringiz uchun rahmat!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3108960"/>
            <a:ext cx="1069848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800"/>
              </a:spcAft>
            </a:pPr>
            <a:r>
              <a:rPr sz="2600" b="0">
                <a:solidFill>
                  <a:srgbClr val="E0B453"/>
                </a:solidFill>
                <a:latin typeface="Calibri"/>
              </a:rPr>
              <a:t>Tourist.uz — O'zbekistonni dunyoga ona tilida tanishtiramiz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4389120"/>
            <a:ext cx="1069848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8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https://ilhomabdullaev.github.io/gulhayo_uchun/</a:t>
            </a:r>
          </a:p>
          <a:p>
            <a:pPr algn="ctr">
              <a:spcAft>
                <a:spcPts val="8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[telefon / Telegram]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